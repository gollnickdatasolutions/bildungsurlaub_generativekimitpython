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2"/>
  </p:notesMasterIdLst>
  <p:handoutMasterIdLst>
    <p:handoutMasterId r:id="rId13"/>
  </p:handoutMasterIdLst>
  <p:sldIdLst>
    <p:sldId id="256" r:id="rId2"/>
    <p:sldId id="303" r:id="rId3"/>
    <p:sldId id="307" r:id="rId4"/>
    <p:sldId id="304" r:id="rId5"/>
    <p:sldId id="308" r:id="rId6"/>
    <p:sldId id="309" r:id="rId7"/>
    <p:sldId id="313" r:id="rId8"/>
    <p:sldId id="311" r:id="rId9"/>
    <p:sldId id="312" r:id="rId10"/>
    <p:sldId id="310" r:id="rId11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3" orient="horz" pos="1983">
          <p15:clr>
            <a:srgbClr val="A4A3A4"/>
          </p15:clr>
        </p15:guide>
        <p15:guide id="4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54"/>
    <a:srgbClr val="3967DE"/>
    <a:srgbClr val="26A1EB"/>
    <a:srgbClr val="2B8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94712" autoAdjust="0"/>
  </p:normalViewPr>
  <p:slideViewPr>
    <p:cSldViewPr>
      <p:cViewPr varScale="1">
        <p:scale>
          <a:sx n="138" d="100"/>
          <a:sy n="138" d="100"/>
        </p:scale>
        <p:origin x="930" y="138"/>
      </p:cViewPr>
      <p:guideLst>
        <p:guide orient="horz" pos="1620"/>
        <p:guide orient="horz" pos="19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5766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B8D37-F2C9-4AA7-9088-A1D556DE4F32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A7DA08-A421-428F-B2A2-13165CAF97E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556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DAEFD-F0CA-40B0-91E7-913D9FD56239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CE6118-A8F0-4C13-BF86-10944E626E13}" type="slidenum">
              <a:rPr lang="ko-KR" altLang="en-US" smtClean="0"/>
              <a:t>‹Nr.›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338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4299941"/>
          </a:xfrm>
          <a:prstGeom prst="rect">
            <a:avLst/>
          </a:prstGeom>
          <a:solidFill>
            <a:srgbClr val="3967DE"/>
          </a:solidFill>
        </p:spPr>
        <p:txBody>
          <a:bodyPr lIns="360000" anchor="ctr"/>
          <a:lstStyle>
            <a:lvl1pPr marL="0" indent="0" algn="l">
              <a:lnSpc>
                <a:spcPct val="100000"/>
              </a:lnSpc>
              <a:buNone/>
              <a:defRPr sz="3600" b="1" baseline="0">
                <a:ln>
                  <a:noFill/>
                </a:ln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24822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659787"/>
          </a:xfrm>
          <a:prstGeom prst="rect">
            <a:avLst/>
          </a:prstGeom>
          <a:solidFill>
            <a:srgbClr val="3967DE"/>
          </a:solidFill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59787"/>
            <a:ext cx="9144000" cy="288032"/>
          </a:xfrm>
          <a:prstGeom prst="rect">
            <a:avLst/>
          </a:prstGeom>
          <a:solidFill>
            <a:srgbClr val="3967DE"/>
          </a:solidFill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01525516-F454-4F78-8A92-8C16925461B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520" y="1131590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18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800"/>
            </a:lvl3pPr>
            <a:lvl4pPr marL="1600200" indent="-228600">
              <a:buFont typeface="Wingdings" panose="05000000000000000000" pitchFamily="2" charset="2"/>
              <a:buChar char="§"/>
              <a:defRPr sz="1800"/>
            </a:lvl4pPr>
            <a:lvl5pPr marL="2057400" indent="-228600"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de-DE" dirty="0" err="1"/>
              <a:t>dfgMastertextformat</a:t>
            </a:r>
            <a:r>
              <a:rPr lang="de-DE" dirty="0"/>
              <a:t>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FDC3FD-0525-7DEF-172A-9AC272F911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5470" y="4636781"/>
            <a:ext cx="432048" cy="447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71C4AC-4839-14DB-71C5-5B3EF3C824BC}"/>
              </a:ext>
            </a:extLst>
          </p:cNvPr>
          <p:cNvSpPr txBox="1"/>
          <p:nvPr userDrawn="1"/>
        </p:nvSpPr>
        <p:spPr>
          <a:xfrm>
            <a:off x="7387518" y="4675635"/>
            <a:ext cx="1576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latin typeface="+mj-lt"/>
              </a:rPr>
              <a:t>gollnickdata.de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70DBD47-D734-4499-A1D5-627AFE8E8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52742B-663F-4D3A-A722-CD0B6A0CF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881C37-6258-4AF1-8215-8A67CACBE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3D014-1DC2-4B17-B8DA-BF27C1E58C5E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6FABB8-3D34-454A-AC77-EBFE65E34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F1E3D8-87D2-4FBE-82D7-B75364701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18669-64BD-4BC2-86D9-881C111E1F7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45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strix/strix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68A32DD-BEAC-4C38-81E8-87C0EB537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4011910"/>
          </a:xfrm>
          <a:solidFill>
            <a:srgbClr val="2C2C54"/>
          </a:solidFill>
        </p:spPr>
        <p:txBody>
          <a:bodyPr>
            <a:normAutofit/>
          </a:bodyPr>
          <a:lstStyle/>
          <a:p>
            <a:pPr algn="ctr"/>
            <a:r>
              <a:rPr lang="de-DE" b="0" dirty="0"/>
              <a:t>Pen-</a:t>
            </a:r>
            <a:r>
              <a:rPr lang="de-DE" b="0" dirty="0" err="1"/>
              <a:t>Testing</a:t>
            </a:r>
            <a:endParaRPr lang="de-DE" b="0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6790FCB-73B6-A744-11CE-4D60A77861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91880" y="4155926"/>
            <a:ext cx="797138" cy="8247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B184B4-BA3D-70BD-FABF-F8ACA2B2C97A}"/>
              </a:ext>
            </a:extLst>
          </p:cNvPr>
          <p:cNvSpPr txBox="1"/>
          <p:nvPr/>
        </p:nvSpPr>
        <p:spPr>
          <a:xfrm>
            <a:off x="4289018" y="4383659"/>
            <a:ext cx="1576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latin typeface="+mj-lt"/>
              </a:rPr>
              <a:t>gollnickdata.de</a:t>
            </a:r>
          </a:p>
        </p:txBody>
      </p: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A30F3-33C6-4F58-9198-2CE865738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solidFill>
            <a:srgbClr val="2C2C54"/>
          </a:solidFill>
        </p:spPr>
        <p:txBody>
          <a:bodyPr lIns="180000"/>
          <a:lstStyle/>
          <a:p>
            <a:r>
              <a:rPr lang="de-DE" dirty="0">
                <a:latin typeface="+mj-lt"/>
              </a:rPr>
              <a:t>Pen-</a:t>
            </a:r>
            <a:r>
              <a:rPr lang="de-DE" dirty="0" err="1">
                <a:latin typeface="+mj-lt"/>
              </a:rPr>
              <a:t>Testing</a:t>
            </a:r>
            <a:endParaRPr lang="de-DE" dirty="0">
              <a:latin typeface="+mj-l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5D9F419-3225-47DC-85CB-B1B4C405B3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rgbClr val="2C2C54"/>
          </a:solidFill>
        </p:spPr>
        <p:txBody>
          <a:bodyPr lIns="180000"/>
          <a:lstStyle/>
          <a:p>
            <a:r>
              <a:rPr lang="de-DE" dirty="0" err="1">
                <a:latin typeface="+mj-lt"/>
              </a:rPr>
              <a:t>What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is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it</a:t>
            </a:r>
            <a:r>
              <a:rPr lang="de-DE" dirty="0">
                <a:latin typeface="+mj-lt"/>
              </a:rPr>
              <a:t>?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B9B979D-A90F-4836-B137-9F046D081B6A}"/>
              </a:ext>
            </a:extLst>
          </p:cNvPr>
          <p:cNvSpPr txBox="1"/>
          <p:nvPr/>
        </p:nvSpPr>
        <p:spPr>
          <a:xfrm>
            <a:off x="251520" y="1131590"/>
            <a:ext cx="8136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>
              <a:buNone/>
            </a:pPr>
            <a:r>
              <a:rPr lang="en-US" sz="1600" dirty="0">
                <a:solidFill>
                  <a:srgbClr val="2C2C54"/>
                </a:solidFill>
                <a:latin typeface="Calibri Light"/>
              </a:rPr>
              <a:t>Pen testing simulates a real cyberattack to expose security flaws before malicious actors do.</a:t>
            </a:r>
          </a:p>
        </p:txBody>
      </p:sp>
      <p:sp>
        <p:nvSpPr>
          <p:cNvPr id="200" name="PhaseBox1"/>
          <p:cNvSpPr/>
          <p:nvPr/>
        </p:nvSpPr>
        <p:spPr>
          <a:xfrm>
            <a:off x="406400" y="2133600"/>
            <a:ext cx="1587500" cy="1270000"/>
          </a:xfrm>
          <a:prstGeom prst="rect">
            <a:avLst/>
          </a:prstGeom>
          <a:solidFill>
            <a:srgbClr val="2C2C54"/>
          </a:solidFill>
          <a:ln>
            <a:noFill/>
          </a:ln>
        </p:spPr>
        <p:txBody>
          <a:bodyPr wrap="square" anchor="ctr">
            <a:normAutofit/>
          </a:bodyPr>
          <a:lstStyle/>
          <a:p>
            <a:pPr algn="ctr" eaLnBrk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/>
              </a:rPr>
              <a:t>01</a:t>
            </a:r>
          </a:p>
          <a:p>
            <a:pPr algn="ctr" eaLnBrk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/>
              </a:rPr>
              <a:t>Reconnaissance</a:t>
            </a:r>
          </a:p>
        </p:txBody>
      </p:sp>
      <p:sp>
        <p:nvSpPr>
          <p:cNvPr id="210" name="Arrow1"/>
          <p:cNvSpPr/>
          <p:nvPr/>
        </p:nvSpPr>
        <p:spPr>
          <a:xfrm>
            <a:off x="1993900" y="2679700"/>
            <a:ext cx="101600" cy="177800"/>
          </a:xfrm>
          <a:prstGeom prst="rightArrow">
            <a:avLst/>
          </a:prstGeom>
          <a:solidFill>
            <a:srgbClr val="C05C3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0" name="Desc1"/>
          <p:cNvSpPr txBox="1"/>
          <p:nvPr/>
        </p:nvSpPr>
        <p:spPr>
          <a:xfrm>
            <a:off x="406400" y="3454400"/>
            <a:ext cx="1587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 eaLnBrk="0">
              <a:buNone/>
            </a:pPr>
            <a:r>
              <a:rPr lang="en-US" sz="1400" dirty="0">
                <a:solidFill>
                  <a:srgbClr val="555570"/>
                </a:solidFill>
                <a:latin typeface="Calibri Light"/>
              </a:rPr>
              <a:t>Passive recon</a:t>
            </a:r>
          </a:p>
        </p:txBody>
      </p:sp>
      <p:sp>
        <p:nvSpPr>
          <p:cNvPr id="201" name="PhaseBox2"/>
          <p:cNvSpPr/>
          <p:nvPr/>
        </p:nvSpPr>
        <p:spPr>
          <a:xfrm>
            <a:off x="2095500" y="2133600"/>
            <a:ext cx="1587500" cy="127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anchor="ctr">
            <a:normAutofit/>
          </a:bodyPr>
          <a:lstStyle/>
          <a:p>
            <a:pPr algn="ctr" eaLnBrk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/>
              </a:rPr>
              <a:t>02</a:t>
            </a:r>
          </a:p>
          <a:p>
            <a:pPr algn="ctr" eaLnBrk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/>
              </a:rPr>
              <a:t>Scanning</a:t>
            </a:r>
          </a:p>
        </p:txBody>
      </p:sp>
      <p:sp>
        <p:nvSpPr>
          <p:cNvPr id="211" name="Arrow2"/>
          <p:cNvSpPr/>
          <p:nvPr/>
        </p:nvSpPr>
        <p:spPr>
          <a:xfrm>
            <a:off x="3683000" y="2679700"/>
            <a:ext cx="101600" cy="177800"/>
          </a:xfrm>
          <a:prstGeom prst="rightArrow">
            <a:avLst/>
          </a:prstGeom>
          <a:solidFill>
            <a:srgbClr val="C05C3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1" name="Desc2"/>
          <p:cNvSpPr txBox="1"/>
          <p:nvPr/>
        </p:nvSpPr>
        <p:spPr>
          <a:xfrm>
            <a:off x="2095500" y="3454400"/>
            <a:ext cx="1587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 eaLnBrk="0">
              <a:buNone/>
            </a:pPr>
            <a:r>
              <a:rPr lang="en-US" sz="1400" dirty="0">
                <a:solidFill>
                  <a:srgbClr val="555570"/>
                </a:solidFill>
                <a:latin typeface="Calibri Light"/>
              </a:rPr>
              <a:t>Vuln scanning</a:t>
            </a:r>
          </a:p>
        </p:txBody>
      </p:sp>
      <p:sp>
        <p:nvSpPr>
          <p:cNvPr id="202" name="PhaseBox3"/>
          <p:cNvSpPr/>
          <p:nvPr/>
        </p:nvSpPr>
        <p:spPr>
          <a:xfrm>
            <a:off x="3784600" y="2133600"/>
            <a:ext cx="1587500" cy="1270000"/>
          </a:xfrm>
          <a:prstGeom prst="rect">
            <a:avLst/>
          </a:prstGeom>
          <a:solidFill>
            <a:srgbClr val="C05C37"/>
          </a:solidFill>
          <a:ln>
            <a:noFill/>
          </a:ln>
        </p:spPr>
        <p:txBody>
          <a:bodyPr wrap="square" anchor="ctr">
            <a:normAutofit/>
          </a:bodyPr>
          <a:lstStyle/>
          <a:p>
            <a:pPr algn="ctr" eaLnBrk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/>
              </a:rPr>
              <a:t>03</a:t>
            </a:r>
          </a:p>
          <a:p>
            <a:pPr algn="ctr" eaLnBrk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/>
              </a:rPr>
              <a:t>Exploitation</a:t>
            </a:r>
          </a:p>
        </p:txBody>
      </p:sp>
      <p:sp>
        <p:nvSpPr>
          <p:cNvPr id="212" name="Arrow3"/>
          <p:cNvSpPr/>
          <p:nvPr/>
        </p:nvSpPr>
        <p:spPr>
          <a:xfrm>
            <a:off x="5372100" y="2679700"/>
            <a:ext cx="101600" cy="177800"/>
          </a:xfrm>
          <a:prstGeom prst="rightArrow">
            <a:avLst/>
          </a:prstGeom>
          <a:solidFill>
            <a:srgbClr val="C05C3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2" name="Desc3"/>
          <p:cNvSpPr txBox="1"/>
          <p:nvPr/>
        </p:nvSpPr>
        <p:spPr>
          <a:xfrm>
            <a:off x="3784600" y="3454400"/>
            <a:ext cx="1587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 eaLnBrk="0">
              <a:buNone/>
            </a:pPr>
            <a:r>
              <a:rPr lang="en-US" sz="1400" dirty="0">
                <a:solidFill>
                  <a:srgbClr val="555570"/>
                </a:solidFill>
                <a:latin typeface="Calibri Light"/>
              </a:rPr>
              <a:t>System breach</a:t>
            </a:r>
          </a:p>
        </p:txBody>
      </p:sp>
      <p:sp>
        <p:nvSpPr>
          <p:cNvPr id="203" name="PhaseBox4"/>
          <p:cNvSpPr/>
          <p:nvPr/>
        </p:nvSpPr>
        <p:spPr>
          <a:xfrm>
            <a:off x="5473700" y="2133600"/>
            <a:ext cx="1587500" cy="127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anchor="ctr">
            <a:normAutofit/>
          </a:bodyPr>
          <a:lstStyle/>
          <a:p>
            <a:pPr algn="ctr" eaLnBrk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/>
              </a:rPr>
              <a:t>04</a:t>
            </a:r>
          </a:p>
          <a:p>
            <a:pPr algn="ctr" eaLnBrk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/>
              </a:rPr>
              <a:t>Post-Exploit</a:t>
            </a:r>
          </a:p>
        </p:txBody>
      </p:sp>
      <p:sp>
        <p:nvSpPr>
          <p:cNvPr id="213" name="Arrow4"/>
          <p:cNvSpPr/>
          <p:nvPr/>
        </p:nvSpPr>
        <p:spPr>
          <a:xfrm>
            <a:off x="7061200" y="2679700"/>
            <a:ext cx="101600" cy="177800"/>
          </a:xfrm>
          <a:prstGeom prst="rightArrow">
            <a:avLst/>
          </a:prstGeom>
          <a:solidFill>
            <a:srgbClr val="C05C3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3" name="Desc4"/>
          <p:cNvSpPr txBox="1"/>
          <p:nvPr/>
        </p:nvSpPr>
        <p:spPr>
          <a:xfrm>
            <a:off x="5473700" y="3454400"/>
            <a:ext cx="1587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 eaLnBrk="0">
              <a:buNone/>
            </a:pPr>
            <a:r>
              <a:rPr lang="en-US" sz="1400" dirty="0">
                <a:solidFill>
                  <a:srgbClr val="555570"/>
                </a:solidFill>
                <a:latin typeface="Calibri Light"/>
              </a:rPr>
              <a:t>Move laterally</a:t>
            </a:r>
          </a:p>
        </p:txBody>
      </p:sp>
      <p:sp>
        <p:nvSpPr>
          <p:cNvPr id="204" name="PhaseBox5"/>
          <p:cNvSpPr/>
          <p:nvPr/>
        </p:nvSpPr>
        <p:spPr>
          <a:xfrm>
            <a:off x="7162800" y="2133600"/>
            <a:ext cx="1587500" cy="1270000"/>
          </a:xfrm>
          <a:prstGeom prst="rect">
            <a:avLst/>
          </a:prstGeom>
          <a:solidFill>
            <a:srgbClr val="3A7A3A"/>
          </a:solidFill>
          <a:ln>
            <a:noFill/>
          </a:ln>
        </p:spPr>
        <p:txBody>
          <a:bodyPr wrap="square" anchor="ctr">
            <a:normAutofit/>
          </a:bodyPr>
          <a:lstStyle/>
          <a:p>
            <a:pPr algn="ctr" eaLnBrk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/>
              </a:rPr>
              <a:t>05</a:t>
            </a:r>
          </a:p>
          <a:p>
            <a:pPr algn="ctr" eaLnBrk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/>
              </a:rPr>
              <a:t>Reporting</a:t>
            </a:r>
          </a:p>
        </p:txBody>
      </p:sp>
      <p:sp>
        <p:nvSpPr>
          <p:cNvPr id="224" name="Desc5"/>
          <p:cNvSpPr txBox="1"/>
          <p:nvPr/>
        </p:nvSpPr>
        <p:spPr>
          <a:xfrm>
            <a:off x="7162800" y="3454400"/>
            <a:ext cx="1587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 eaLnBrk="0">
              <a:buNone/>
            </a:pPr>
            <a:r>
              <a:rPr lang="en-US" sz="1400" dirty="0">
                <a:solidFill>
                  <a:srgbClr val="555570"/>
                </a:solidFill>
                <a:latin typeface="Calibri Light"/>
              </a:rPr>
              <a:t>Final report</a:t>
            </a:r>
          </a:p>
        </p:txBody>
      </p:sp>
    </p:spTree>
    <p:extLst>
      <p:ext uri="{BB962C8B-B14F-4D97-AF65-F5344CB8AC3E}">
        <p14:creationId xmlns:p14="http://schemas.microsoft.com/office/powerpoint/2010/main" val="3814120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70978-E65F-44D0-A4C5-6764E29A1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ightBG"/>
          <p:cNvSpPr/>
          <p:nvPr/>
        </p:nvSpPr>
        <p:spPr>
          <a:xfrm>
            <a:off x="4673600" y="1016000"/>
            <a:ext cx="4368800" cy="3632200"/>
          </a:xfrm>
          <a:prstGeom prst="rect">
            <a:avLst/>
          </a:prstGeom>
          <a:solidFill>
            <a:srgbClr val="FFF2EE"/>
          </a:solidFill>
          <a:ln w="9525">
            <a:solidFill>
              <a:srgbClr val="F0D0C4"/>
            </a:solidFill>
          </a:ln>
        </p:spPr>
        <p:txBody>
          <a:bodyPr wrap="square" lIns="0" tIns="0" rIns="0" bIns="0" anchor="ctr">
            <a:normAutofit/>
          </a:bodyPr>
          <a:lstStyle/>
          <a:p>
            <a:endParaRPr lang="en-US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8D979AF-0602-AA78-6C6B-AD994EDE38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solidFill>
            <a:srgbClr val="2C2C54"/>
          </a:solidFill>
        </p:spPr>
        <p:txBody>
          <a:bodyPr lIns="180000"/>
          <a:lstStyle/>
          <a:p>
            <a:pPr eaLnBrk="0">
              <a:buNone/>
            </a:pPr>
            <a:r>
              <a:rPr lang="en-US" dirty="0">
                <a:latin typeface="+mj-lt"/>
              </a:rPr>
              <a:t>The Security Gap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393818-6615-35B9-947F-06950C4AF5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rgbClr val="2C2C54"/>
          </a:solidFill>
        </p:spPr>
        <p:txBody>
          <a:bodyPr lIns="180000"/>
          <a:lstStyle/>
          <a:p>
            <a:pPr eaLnBrk="0">
              <a:buNone/>
            </a:pPr>
            <a:r>
              <a:rPr lang="en-US" dirty="0">
                <a:latin typeface="+mn-lt"/>
              </a:rPr>
              <a:t>What standard DevOps pipelines catch — and what they miss</a:t>
            </a:r>
          </a:p>
        </p:txBody>
      </p:sp>
      <p:sp>
        <p:nvSpPr>
          <p:cNvPr id="100" name="LeftBG"/>
          <p:cNvSpPr/>
          <p:nvPr/>
        </p:nvSpPr>
        <p:spPr>
          <a:xfrm>
            <a:off x="127000" y="1016000"/>
            <a:ext cx="4368800" cy="3632200"/>
          </a:xfrm>
          <a:prstGeom prst="rect">
            <a:avLst/>
          </a:prstGeom>
          <a:solidFill>
            <a:srgbClr val="EEF3FF"/>
          </a:solidFill>
          <a:ln w="9525">
            <a:solidFill>
              <a:srgbClr val="D0DAF0"/>
            </a:solidFill>
          </a:ln>
        </p:spPr>
        <p:txBody>
          <a:bodyPr wrap="square" lIns="0" tIns="0" rIns="0" bIns="0" anchor="ctr">
            <a:normAutofit/>
          </a:bodyPr>
          <a:lstStyle/>
          <a:p>
            <a:endParaRPr lang="en-US" dirty="0"/>
          </a:p>
        </p:txBody>
      </p:sp>
      <p:sp>
        <p:nvSpPr>
          <p:cNvPr id="101" name="LeftHdr"/>
          <p:cNvSpPr/>
          <p:nvPr/>
        </p:nvSpPr>
        <p:spPr>
          <a:xfrm>
            <a:off x="127000" y="1016000"/>
            <a:ext cx="4368800" cy="330200"/>
          </a:xfrm>
          <a:prstGeom prst="rect">
            <a:avLst/>
          </a:prstGeom>
          <a:solidFill>
            <a:srgbClr val="2C2C54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 eaLnBrk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/>
              </a:rPr>
              <a:t>Shipping Pipeline</a:t>
            </a:r>
          </a:p>
        </p:txBody>
      </p:sp>
      <p:sp>
        <p:nvSpPr>
          <p:cNvPr id="102" name="NewCode"/>
          <p:cNvSpPr/>
          <p:nvPr/>
        </p:nvSpPr>
        <p:spPr>
          <a:xfrm>
            <a:off x="508000" y="1762165"/>
            <a:ext cx="2286000" cy="304800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 eaLnBrk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/>
              </a:rPr>
              <a:t>New Code</a:t>
            </a:r>
          </a:p>
        </p:txBody>
      </p:sp>
      <p:sp>
        <p:nvSpPr>
          <p:cNvPr id="110" name="Stage1"/>
          <p:cNvSpPr/>
          <p:nvPr/>
        </p:nvSpPr>
        <p:spPr>
          <a:xfrm>
            <a:off x="508000" y="2216646"/>
            <a:ext cx="2286000" cy="304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 eaLnBrk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/>
              </a:rPr>
              <a:t>CI / Build</a:t>
            </a:r>
          </a:p>
        </p:txBody>
      </p:sp>
      <p:sp>
        <p:nvSpPr>
          <p:cNvPr id="111" name="Chk1"/>
          <p:cNvSpPr txBox="1"/>
          <p:nvPr/>
        </p:nvSpPr>
        <p:spPr>
          <a:xfrm>
            <a:off x="2895600" y="2216646"/>
            <a:ext cx="1549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 eaLnBrk="0">
              <a:buNone/>
            </a:pPr>
            <a:r>
              <a:rPr lang="en-US" sz="1400" dirty="0">
                <a:solidFill>
                  <a:srgbClr val="5A9E40"/>
                </a:solidFill>
                <a:latin typeface="Calibri Light"/>
              </a:rPr>
              <a:t>✓  Build errors</a:t>
            </a:r>
          </a:p>
        </p:txBody>
      </p:sp>
      <p:sp>
        <p:nvSpPr>
          <p:cNvPr id="116" name="Arr1"/>
          <p:cNvSpPr/>
          <p:nvPr/>
        </p:nvSpPr>
        <p:spPr>
          <a:xfrm>
            <a:off x="1574800" y="2064246"/>
            <a:ext cx="152400" cy="15240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Stage2"/>
          <p:cNvSpPr/>
          <p:nvPr/>
        </p:nvSpPr>
        <p:spPr>
          <a:xfrm>
            <a:off x="508000" y="2673846"/>
            <a:ext cx="2286000" cy="304800"/>
          </a:xfrm>
          <a:prstGeom prst="rect">
            <a:avLst/>
          </a:prstGeom>
          <a:solidFill>
            <a:srgbClr val="8B7BA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 eaLnBrk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/>
              </a:rPr>
              <a:t>Tests</a:t>
            </a:r>
          </a:p>
        </p:txBody>
      </p:sp>
      <p:sp>
        <p:nvSpPr>
          <p:cNvPr id="113" name="Chk2"/>
          <p:cNvSpPr txBox="1"/>
          <p:nvPr/>
        </p:nvSpPr>
        <p:spPr>
          <a:xfrm>
            <a:off x="2895600" y="2673846"/>
            <a:ext cx="1549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 eaLnBrk="0">
              <a:buNone/>
            </a:pPr>
            <a:r>
              <a:rPr lang="en-US" sz="1400" dirty="0">
                <a:solidFill>
                  <a:srgbClr val="5A9E40"/>
                </a:solidFill>
                <a:latin typeface="Calibri Light"/>
              </a:rPr>
              <a:t>✓  Regressions</a:t>
            </a:r>
          </a:p>
        </p:txBody>
      </p:sp>
      <p:sp>
        <p:nvSpPr>
          <p:cNvPr id="117" name="Arr2"/>
          <p:cNvSpPr/>
          <p:nvPr/>
        </p:nvSpPr>
        <p:spPr>
          <a:xfrm>
            <a:off x="1574800" y="2521446"/>
            <a:ext cx="152400" cy="15240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4" name="Stage3"/>
          <p:cNvSpPr/>
          <p:nvPr/>
        </p:nvSpPr>
        <p:spPr>
          <a:xfrm>
            <a:off x="508000" y="3131046"/>
            <a:ext cx="2286000" cy="304800"/>
          </a:xfrm>
          <a:prstGeom prst="rect">
            <a:avLst/>
          </a:prstGeom>
          <a:solidFill>
            <a:srgbClr val="6A9B5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 eaLnBrk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/>
              </a:rPr>
              <a:t>Observability</a:t>
            </a:r>
          </a:p>
        </p:txBody>
      </p:sp>
      <p:sp>
        <p:nvSpPr>
          <p:cNvPr id="115" name="Chk3"/>
          <p:cNvSpPr txBox="1"/>
          <p:nvPr/>
        </p:nvSpPr>
        <p:spPr>
          <a:xfrm>
            <a:off x="2895600" y="3131046"/>
            <a:ext cx="1549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 eaLnBrk="0">
              <a:buNone/>
            </a:pPr>
            <a:r>
              <a:rPr lang="en-US" sz="1400" dirty="0">
                <a:solidFill>
                  <a:srgbClr val="5A9E40"/>
                </a:solidFill>
                <a:latin typeface="Calibri Light"/>
              </a:rPr>
              <a:t>✓  Outages</a:t>
            </a:r>
          </a:p>
        </p:txBody>
      </p:sp>
      <p:sp>
        <p:nvSpPr>
          <p:cNvPr id="118" name="Arr3"/>
          <p:cNvSpPr/>
          <p:nvPr/>
        </p:nvSpPr>
        <p:spPr>
          <a:xfrm>
            <a:off x="1574800" y="2978646"/>
            <a:ext cx="152400" cy="15240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9" name="CatchLbl"/>
          <p:cNvSpPr txBox="1"/>
          <p:nvPr/>
        </p:nvSpPr>
        <p:spPr>
          <a:xfrm>
            <a:off x="228600" y="4164558"/>
            <a:ext cx="416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 eaLnBrk="0">
              <a:buNone/>
            </a:pPr>
            <a:r>
              <a:rPr lang="en-US" sz="1400" i="1" dirty="0">
                <a:solidFill>
                  <a:srgbClr val="4472C4"/>
                </a:solidFill>
                <a:latin typeface="Calibri Light"/>
              </a:rPr>
              <a:t>What we catch today</a:t>
            </a:r>
          </a:p>
        </p:txBody>
      </p:sp>
      <p:sp>
        <p:nvSpPr>
          <p:cNvPr id="122" name="RightHdr"/>
          <p:cNvSpPr/>
          <p:nvPr/>
        </p:nvSpPr>
        <p:spPr>
          <a:xfrm>
            <a:off x="4673600" y="1016000"/>
            <a:ext cx="4368800" cy="330200"/>
          </a:xfrm>
          <a:prstGeom prst="rect">
            <a:avLst/>
          </a:prstGeom>
          <a:solidFill>
            <a:srgbClr val="C05C37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 eaLnBrk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/>
              </a:rPr>
              <a:t>The Gap (what we don’ catch)</a:t>
            </a:r>
          </a:p>
        </p:txBody>
      </p:sp>
      <p:sp>
        <p:nvSpPr>
          <p:cNvPr id="123" name="SecOval"/>
          <p:cNvSpPr/>
          <p:nvPr/>
        </p:nvSpPr>
        <p:spPr>
          <a:xfrm>
            <a:off x="6042868" y="1435100"/>
            <a:ext cx="1841500" cy="482600"/>
          </a:xfrm>
          <a:prstGeom prst="ellipse">
            <a:avLst/>
          </a:prstGeom>
          <a:noFill/>
          <a:ln w="19050" cmpd="sng">
            <a:solidFill>
              <a:srgbClr val="C05C37"/>
            </a:solidFill>
            <a:prstDash val="dash"/>
          </a:ln>
        </p:spPr>
        <p:txBody>
          <a:bodyPr wrap="square" lIns="0" tIns="0" rIns="0" bIns="0" anchor="ctr">
            <a:normAutofit/>
          </a:bodyPr>
          <a:lstStyle/>
          <a:p>
            <a:pPr algn="ctr" eaLnBrk="0">
              <a:buNone/>
            </a:pPr>
            <a:r>
              <a:rPr lang="en-US" sz="1400" b="1" i="1" dirty="0">
                <a:solidFill>
                  <a:srgbClr val="C05C37"/>
                </a:solidFill>
                <a:latin typeface="Calibri Light"/>
              </a:rPr>
              <a:t>Security?</a:t>
            </a:r>
          </a:p>
        </p:txBody>
      </p:sp>
      <p:sp>
        <p:nvSpPr>
          <p:cNvPr id="125" name="GapArrow"/>
          <p:cNvSpPr/>
          <p:nvPr/>
        </p:nvSpPr>
        <p:spPr>
          <a:xfrm>
            <a:off x="6821512" y="2057400"/>
            <a:ext cx="558800" cy="660400"/>
          </a:xfrm>
          <a:prstGeom prst="downArrow">
            <a:avLst/>
          </a:prstGeom>
          <a:solidFill>
            <a:srgbClr val="C05C3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7" name="VulnText"/>
          <p:cNvSpPr txBox="1"/>
          <p:nvPr/>
        </p:nvSpPr>
        <p:spPr>
          <a:xfrm>
            <a:off x="4800600" y="4139158"/>
            <a:ext cx="411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 eaLnBrk="0">
              <a:buNone/>
            </a:pPr>
            <a:r>
              <a:rPr lang="en-US" sz="1400" b="1" dirty="0">
                <a:solidFill>
                  <a:srgbClr val="C05C37"/>
                </a:solidFill>
                <a:latin typeface="Calibri Light"/>
              </a:rPr>
              <a:t>Vulnerabilities slip right through</a:t>
            </a:r>
          </a:p>
        </p:txBody>
      </p:sp>
      <p:pic>
        <p:nvPicPr>
          <p:cNvPr id="129" name="Graphic 129" descr="Security shield cross — vulnerability indica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0152" y="2794000"/>
            <a:ext cx="930672" cy="930672"/>
          </a:xfrm>
          <a:prstGeom prst="rect">
            <a:avLst/>
          </a:prstGeom>
        </p:spPr>
      </p:pic>
      <p:pic>
        <p:nvPicPr>
          <p:cNvPr id="130" name="Graphic 130" descr="Key icon — credential and access vulnera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5744" y="2794000"/>
            <a:ext cx="930672" cy="93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89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AC5DB-002E-01E8-3441-82B0115C4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FEB3FE3-CFF5-BB63-B1D1-3A3607FE03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solidFill>
            <a:srgbClr val="2C2C54"/>
          </a:solidFill>
        </p:spPr>
        <p:txBody>
          <a:bodyPr lIns="180000"/>
          <a:lstStyle/>
          <a:p>
            <a:r>
              <a:rPr lang="de-DE" dirty="0">
                <a:latin typeface="+mj-lt"/>
              </a:rPr>
              <a:t>Pen-</a:t>
            </a:r>
            <a:r>
              <a:rPr lang="de-DE" dirty="0" err="1">
                <a:latin typeface="+mj-lt"/>
              </a:rPr>
              <a:t>Testing</a:t>
            </a:r>
            <a:endParaRPr lang="de-DE" dirty="0">
              <a:latin typeface="+mj-l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AE43CE-1B54-2A32-E969-A2CD39DC45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rgbClr val="2C2C54"/>
          </a:solidFill>
        </p:spPr>
        <p:txBody>
          <a:bodyPr lIns="180000"/>
          <a:lstStyle/>
          <a:p>
            <a:r>
              <a:rPr lang="de-DE" dirty="0">
                <a:latin typeface="+mj-lt"/>
              </a:rPr>
              <a:t>Strix.ai</a:t>
            </a:r>
          </a:p>
        </p:txBody>
      </p:sp>
      <p:pic>
        <p:nvPicPr>
          <p:cNvPr id="5" name="Grafik 4" descr="Strix Banner">
            <a:extLst>
              <a:ext uri="{FF2B5EF4-FFF2-40B4-BE49-F238E27FC236}">
                <a16:creationId xmlns:a16="http://schemas.microsoft.com/office/drawing/2014/main" id="{2C4506A8-0872-1D5F-E8A6-1A4238F36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702" y="1059582"/>
            <a:ext cx="5496794" cy="144016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61A2FD22-133C-95A8-FAAD-E161FD78B3F9}"/>
              </a:ext>
            </a:extLst>
          </p:cNvPr>
          <p:cNvSpPr txBox="1"/>
          <p:nvPr/>
        </p:nvSpPr>
        <p:spPr>
          <a:xfrm>
            <a:off x="323528" y="1275606"/>
            <a:ext cx="360432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Checks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app</a:t>
            </a: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 err="1"/>
              <a:t>Probes</a:t>
            </a:r>
            <a:r>
              <a:rPr lang="de-DE" dirty="0"/>
              <a:t> </a:t>
            </a:r>
            <a:r>
              <a:rPr lang="de-DE" dirty="0" err="1"/>
              <a:t>abuse</a:t>
            </a:r>
            <a:r>
              <a:rPr lang="de-DE" dirty="0"/>
              <a:t> </a:t>
            </a:r>
            <a:r>
              <a:rPr lang="de-DE" dirty="0" err="1"/>
              <a:t>paths</a:t>
            </a: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Lists </a:t>
            </a:r>
            <a:r>
              <a:rPr lang="de-DE" dirty="0" err="1"/>
              <a:t>findings</a:t>
            </a: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 err="1"/>
              <a:t>Suggests</a:t>
            </a:r>
            <a:r>
              <a:rPr lang="de-DE" dirty="0"/>
              <a:t> fixes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Open-source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hlinkClick r:id="rId3"/>
              </a:rPr>
              <a:t>https://github.com/usestrix/strix</a:t>
            </a:r>
            <a:r>
              <a:rPr lang="de-DE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FED97D4-B258-938C-2718-D3CD71525D3F}"/>
              </a:ext>
            </a:extLst>
          </p:cNvPr>
          <p:cNvSpPr txBox="1"/>
          <p:nvPr/>
        </p:nvSpPr>
        <p:spPr>
          <a:xfrm>
            <a:off x="5657356" y="2590035"/>
            <a:ext cx="3379140" cy="20621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de-DE" sz="1600" dirty="0"/>
              <a:t># </a:t>
            </a:r>
            <a:r>
              <a:rPr lang="de-DE" sz="1600" dirty="0" err="1"/>
              <a:t>Install</a:t>
            </a:r>
            <a:r>
              <a:rPr lang="de-DE" sz="1600" dirty="0"/>
              <a:t> Strix</a:t>
            </a:r>
          </a:p>
          <a:p>
            <a:r>
              <a:rPr lang="de-DE" sz="1600" dirty="0" err="1"/>
              <a:t>curl</a:t>
            </a:r>
            <a:r>
              <a:rPr lang="de-DE" sz="1600" dirty="0"/>
              <a:t> -</a:t>
            </a:r>
            <a:r>
              <a:rPr lang="de-DE" sz="1600" dirty="0" err="1"/>
              <a:t>sSL</a:t>
            </a:r>
            <a:r>
              <a:rPr lang="de-DE" sz="1600" dirty="0"/>
              <a:t> https://strix.ai/install | bash</a:t>
            </a:r>
          </a:p>
          <a:p>
            <a:r>
              <a:rPr lang="de-DE" sz="1600" dirty="0"/>
              <a:t># </a:t>
            </a:r>
            <a:r>
              <a:rPr lang="de-DE" sz="1600" dirty="0" err="1"/>
              <a:t>Configure</a:t>
            </a:r>
            <a:r>
              <a:rPr lang="de-DE" sz="1600" dirty="0"/>
              <a:t> </a:t>
            </a:r>
            <a:r>
              <a:rPr lang="de-DE" sz="1600" dirty="0" err="1"/>
              <a:t>your</a:t>
            </a:r>
            <a:r>
              <a:rPr lang="de-DE" sz="1600" dirty="0"/>
              <a:t> AI </a:t>
            </a:r>
            <a:r>
              <a:rPr lang="de-DE" sz="1600" dirty="0" err="1"/>
              <a:t>provider</a:t>
            </a:r>
            <a:endParaRPr lang="de-DE" sz="1600" dirty="0"/>
          </a:p>
          <a:p>
            <a:r>
              <a:rPr lang="de-DE" sz="1600" dirty="0" err="1"/>
              <a:t>export</a:t>
            </a:r>
            <a:r>
              <a:rPr lang="de-DE" sz="1600" dirty="0"/>
              <a:t> STRIX_LLM="</a:t>
            </a:r>
            <a:r>
              <a:rPr lang="de-DE" sz="1600" dirty="0" err="1"/>
              <a:t>openai</a:t>
            </a:r>
            <a:r>
              <a:rPr lang="de-DE" sz="1600" dirty="0"/>
              <a:t>/gpt-5.4"</a:t>
            </a:r>
          </a:p>
          <a:p>
            <a:r>
              <a:rPr lang="de-DE" sz="1600" dirty="0" err="1"/>
              <a:t>export</a:t>
            </a:r>
            <a:r>
              <a:rPr lang="de-DE" sz="1600" dirty="0"/>
              <a:t> LLM_API_KEY="</a:t>
            </a:r>
            <a:r>
              <a:rPr lang="de-DE" sz="1600" dirty="0" err="1"/>
              <a:t>your-api-key</a:t>
            </a:r>
            <a:r>
              <a:rPr lang="de-DE" sz="1600" dirty="0"/>
              <a:t>"</a:t>
            </a:r>
          </a:p>
          <a:p>
            <a:endParaRPr lang="de-DE" sz="1600" dirty="0"/>
          </a:p>
          <a:p>
            <a:r>
              <a:rPr lang="de-DE" sz="1600" dirty="0"/>
              <a:t># Run </a:t>
            </a:r>
            <a:r>
              <a:rPr lang="de-DE" sz="1600" dirty="0" err="1"/>
              <a:t>your</a:t>
            </a:r>
            <a:r>
              <a:rPr lang="de-DE" sz="1600" dirty="0"/>
              <a:t> </a:t>
            </a:r>
            <a:r>
              <a:rPr lang="de-DE" sz="1600" dirty="0" err="1"/>
              <a:t>first</a:t>
            </a:r>
            <a:r>
              <a:rPr lang="de-DE" sz="1600" dirty="0"/>
              <a:t> </a:t>
            </a:r>
            <a:r>
              <a:rPr lang="de-DE" sz="1600" dirty="0" err="1"/>
              <a:t>security</a:t>
            </a:r>
            <a:r>
              <a:rPr lang="de-DE" sz="1600" dirty="0"/>
              <a:t> </a:t>
            </a:r>
            <a:r>
              <a:rPr lang="de-DE" sz="1600" dirty="0" err="1"/>
              <a:t>assessment</a:t>
            </a:r>
            <a:endParaRPr lang="de-DE" sz="1600" dirty="0"/>
          </a:p>
          <a:p>
            <a:r>
              <a:rPr lang="de-DE" sz="1600" dirty="0" err="1"/>
              <a:t>strix</a:t>
            </a:r>
            <a:r>
              <a:rPr lang="de-DE" sz="1600" dirty="0"/>
              <a:t> --target ./app-directory</a:t>
            </a:r>
          </a:p>
        </p:txBody>
      </p:sp>
    </p:spTree>
    <p:extLst>
      <p:ext uri="{BB962C8B-B14F-4D97-AF65-F5344CB8AC3E}">
        <p14:creationId xmlns:p14="http://schemas.microsoft.com/office/powerpoint/2010/main" val="147664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7CC13-FFB0-7FB5-AB10-C9DD25214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5372228-E608-3AE9-3BB2-CEC80718C7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solidFill>
            <a:srgbClr val="2C2C54"/>
          </a:solidFill>
        </p:spPr>
        <p:txBody>
          <a:bodyPr lIns="180000"/>
          <a:lstStyle/>
          <a:p>
            <a:r>
              <a:rPr lang="de-DE" dirty="0">
                <a:latin typeface="+mj-lt"/>
              </a:rPr>
              <a:t>Pen-</a:t>
            </a:r>
            <a:r>
              <a:rPr lang="de-DE" dirty="0" err="1">
                <a:latin typeface="+mj-lt"/>
              </a:rPr>
              <a:t>Testing</a:t>
            </a:r>
            <a:endParaRPr lang="de-DE" dirty="0">
              <a:latin typeface="+mj-l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AC1EA8-688A-F96E-FF88-A24CB26F10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rgbClr val="2C2C54"/>
          </a:solidFill>
        </p:spPr>
        <p:txBody>
          <a:bodyPr lIns="180000"/>
          <a:lstStyle/>
          <a:p>
            <a:r>
              <a:rPr lang="de-DE" dirty="0">
                <a:latin typeface="+mj-lt"/>
              </a:rPr>
              <a:t>Strix.ai - Installation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5C9BD94-88C6-DCB8-BAB4-780F4D81A132}"/>
              </a:ext>
            </a:extLst>
          </p:cNvPr>
          <p:cNvSpPr txBox="1"/>
          <p:nvPr/>
        </p:nvSpPr>
        <p:spPr>
          <a:xfrm>
            <a:off x="179512" y="2885911"/>
            <a:ext cx="3379140" cy="20621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de-DE" sz="1600" dirty="0"/>
              <a:t># </a:t>
            </a:r>
            <a:r>
              <a:rPr lang="de-DE" sz="1600" dirty="0" err="1"/>
              <a:t>Install</a:t>
            </a:r>
            <a:r>
              <a:rPr lang="de-DE" sz="1600" dirty="0"/>
              <a:t> Strix</a:t>
            </a:r>
          </a:p>
          <a:p>
            <a:r>
              <a:rPr lang="de-DE" sz="1600" dirty="0" err="1"/>
              <a:t>curl</a:t>
            </a:r>
            <a:r>
              <a:rPr lang="de-DE" sz="1600" dirty="0"/>
              <a:t> -</a:t>
            </a:r>
            <a:r>
              <a:rPr lang="de-DE" sz="1600" dirty="0" err="1"/>
              <a:t>sSL</a:t>
            </a:r>
            <a:r>
              <a:rPr lang="de-DE" sz="1600" dirty="0"/>
              <a:t> https://strix.ai/install | bash</a:t>
            </a:r>
          </a:p>
          <a:p>
            <a:r>
              <a:rPr lang="de-DE" sz="1600" dirty="0"/>
              <a:t># </a:t>
            </a:r>
            <a:r>
              <a:rPr lang="de-DE" sz="1600" dirty="0" err="1"/>
              <a:t>Configure</a:t>
            </a:r>
            <a:r>
              <a:rPr lang="de-DE" sz="1600" dirty="0"/>
              <a:t> </a:t>
            </a:r>
            <a:r>
              <a:rPr lang="de-DE" sz="1600" dirty="0" err="1"/>
              <a:t>your</a:t>
            </a:r>
            <a:r>
              <a:rPr lang="de-DE" sz="1600" dirty="0"/>
              <a:t> AI </a:t>
            </a:r>
            <a:r>
              <a:rPr lang="de-DE" sz="1600" dirty="0" err="1"/>
              <a:t>provider</a:t>
            </a:r>
            <a:endParaRPr lang="de-DE" sz="1600" dirty="0"/>
          </a:p>
          <a:p>
            <a:r>
              <a:rPr lang="de-DE" sz="1600" dirty="0" err="1"/>
              <a:t>export</a:t>
            </a:r>
            <a:r>
              <a:rPr lang="de-DE" sz="1600" dirty="0"/>
              <a:t> STRIX_LLM="</a:t>
            </a:r>
            <a:r>
              <a:rPr lang="de-DE" sz="1600" dirty="0" err="1"/>
              <a:t>openai</a:t>
            </a:r>
            <a:r>
              <a:rPr lang="de-DE" sz="1600" dirty="0"/>
              <a:t>/gpt-5.4"</a:t>
            </a:r>
          </a:p>
          <a:p>
            <a:r>
              <a:rPr lang="de-DE" sz="1600" dirty="0" err="1"/>
              <a:t>export</a:t>
            </a:r>
            <a:r>
              <a:rPr lang="de-DE" sz="1600" dirty="0"/>
              <a:t> LLM_API_KEY="</a:t>
            </a:r>
            <a:r>
              <a:rPr lang="de-DE" sz="1600" dirty="0" err="1"/>
              <a:t>your-api-key</a:t>
            </a:r>
            <a:r>
              <a:rPr lang="de-DE" sz="1600" dirty="0"/>
              <a:t>"</a:t>
            </a:r>
          </a:p>
          <a:p>
            <a:endParaRPr lang="de-DE" sz="1600" dirty="0"/>
          </a:p>
          <a:p>
            <a:r>
              <a:rPr lang="de-DE" sz="1600" dirty="0"/>
              <a:t># Run </a:t>
            </a:r>
            <a:r>
              <a:rPr lang="de-DE" sz="1600" dirty="0" err="1"/>
              <a:t>your</a:t>
            </a:r>
            <a:r>
              <a:rPr lang="de-DE" sz="1600" dirty="0"/>
              <a:t> </a:t>
            </a:r>
            <a:r>
              <a:rPr lang="de-DE" sz="1600" dirty="0" err="1"/>
              <a:t>first</a:t>
            </a:r>
            <a:r>
              <a:rPr lang="de-DE" sz="1600" dirty="0"/>
              <a:t> </a:t>
            </a:r>
            <a:r>
              <a:rPr lang="de-DE" sz="1600" dirty="0" err="1"/>
              <a:t>security</a:t>
            </a:r>
            <a:r>
              <a:rPr lang="de-DE" sz="1600" dirty="0"/>
              <a:t> </a:t>
            </a:r>
            <a:r>
              <a:rPr lang="de-DE" sz="1600" dirty="0" err="1"/>
              <a:t>assessment</a:t>
            </a:r>
            <a:endParaRPr lang="de-DE" sz="1600" dirty="0"/>
          </a:p>
          <a:p>
            <a:r>
              <a:rPr lang="de-DE" sz="1600" dirty="0" err="1"/>
              <a:t>strix</a:t>
            </a:r>
            <a:r>
              <a:rPr lang="de-DE" sz="1600" dirty="0"/>
              <a:t> --target ./app-directory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8A1816A-852A-8060-2E5D-78F479825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15" y="1059582"/>
            <a:ext cx="838317" cy="657317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45539DE-43DA-5ECB-8216-70659B9F1B9D}"/>
              </a:ext>
            </a:extLst>
          </p:cNvPr>
          <p:cNvSpPr txBox="1"/>
          <p:nvPr/>
        </p:nvSpPr>
        <p:spPr>
          <a:xfrm>
            <a:off x="179512" y="1716899"/>
            <a:ext cx="1695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Docker </a:t>
            </a:r>
            <a:r>
              <a:rPr lang="de-DE" dirty="0" err="1"/>
              <a:t>required</a:t>
            </a:r>
            <a:endParaRPr lang="de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1CC6F40-EBC8-804B-8740-2811D2722E94}"/>
              </a:ext>
            </a:extLst>
          </p:cNvPr>
          <p:cNvSpPr txBox="1"/>
          <p:nvPr/>
        </p:nvSpPr>
        <p:spPr>
          <a:xfrm>
            <a:off x="4067944" y="1716899"/>
            <a:ext cx="46204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Docker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reqired</a:t>
            </a:r>
            <a:r>
              <a:rPr lang="de-DE" dirty="0"/>
              <a:t> </a:t>
            </a:r>
          </a:p>
          <a:p>
            <a:r>
              <a:rPr lang="de-DE" dirty="0" err="1"/>
              <a:t>docker</a:t>
            </a:r>
            <a:r>
              <a:rPr lang="de-DE" dirty="0"/>
              <a:t> pull ghcr.io/</a:t>
            </a:r>
            <a:r>
              <a:rPr lang="de-DE" dirty="0" err="1"/>
              <a:t>usestrix</a:t>
            </a:r>
            <a:r>
              <a:rPr lang="de-DE" dirty="0"/>
              <a:t>/strix-sandbox:1.0.0</a:t>
            </a:r>
          </a:p>
          <a:p>
            <a:r>
              <a:rPr lang="de-DE" dirty="0"/>
              <a:t>Docker </a:t>
            </a:r>
            <a:r>
              <a:rPr lang="de-DE" dirty="0" err="1"/>
              <a:t>run</a:t>
            </a:r>
            <a:r>
              <a:rPr lang="de-DE" dirty="0"/>
              <a:t> ghcr.io/</a:t>
            </a:r>
            <a:r>
              <a:rPr lang="de-DE" dirty="0" err="1"/>
              <a:t>usestrix</a:t>
            </a:r>
            <a:r>
              <a:rPr lang="de-DE" dirty="0"/>
              <a:t>/strix-sandbox:1.0.0</a:t>
            </a:r>
          </a:p>
        </p:txBody>
      </p:sp>
      <p:pic>
        <p:nvPicPr>
          <p:cNvPr id="14" name="Grafik 13" descr="Cmd (Terminal) Silhouette">
            <a:extLst>
              <a:ext uri="{FF2B5EF4-FFF2-40B4-BE49-F238E27FC236}">
                <a16:creationId xmlns:a16="http://schemas.microsoft.com/office/drawing/2014/main" id="{B31360E9-DC14-A5E2-81CD-45A0882AF6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7944" y="912179"/>
            <a:ext cx="914400" cy="914400"/>
          </a:xfrm>
          <a:prstGeom prst="rect">
            <a:avLst/>
          </a:prstGeom>
        </p:spPr>
      </p:pic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537AFBA-A72A-FBAE-E94A-0244AB1A141F}"/>
              </a:ext>
            </a:extLst>
          </p:cNvPr>
          <p:cNvCxnSpPr/>
          <p:nvPr/>
        </p:nvCxnSpPr>
        <p:spPr>
          <a:xfrm>
            <a:off x="1619672" y="1388240"/>
            <a:ext cx="23042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Verbinder: gewinkelt 17">
            <a:extLst>
              <a:ext uri="{FF2B5EF4-FFF2-40B4-BE49-F238E27FC236}">
                <a16:creationId xmlns:a16="http://schemas.microsoft.com/office/drawing/2014/main" id="{F649BE3B-FBD4-7252-9525-F76172AB1643}"/>
              </a:ext>
            </a:extLst>
          </p:cNvPr>
          <p:cNvCxnSpPr>
            <a:stCxn id="12" idx="2"/>
            <a:endCxn id="6" idx="0"/>
          </p:cNvCxnSpPr>
          <p:nvPr/>
        </p:nvCxnSpPr>
        <p:spPr>
          <a:xfrm rot="5400000">
            <a:off x="4000795" y="508517"/>
            <a:ext cx="245682" cy="45091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926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BA712-41A4-8E48-BF88-20765EEFA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F8822F5-B847-596A-C93B-F64A9688EB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solidFill>
            <a:srgbClr val="2C2C54"/>
          </a:solidFill>
        </p:spPr>
        <p:txBody>
          <a:bodyPr lIns="180000"/>
          <a:lstStyle/>
          <a:p>
            <a:r>
              <a:rPr lang="de-DE" dirty="0">
                <a:latin typeface="+mj-lt"/>
              </a:rPr>
              <a:t>Pen-</a:t>
            </a:r>
            <a:r>
              <a:rPr lang="de-DE" dirty="0" err="1">
                <a:latin typeface="+mj-lt"/>
              </a:rPr>
              <a:t>Testing</a:t>
            </a:r>
            <a:endParaRPr lang="de-DE" dirty="0">
              <a:latin typeface="+mj-l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FFC96C-D187-2FD3-3E9C-EDFE55E30C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rgbClr val="2C2C54"/>
          </a:solidFill>
        </p:spPr>
        <p:txBody>
          <a:bodyPr lIns="180000"/>
          <a:lstStyle/>
          <a:p>
            <a:r>
              <a:rPr lang="de-DE" dirty="0">
                <a:latin typeface="+mj-lt"/>
              </a:rPr>
              <a:t>Strix.ai - Installation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B5A35BA-A050-44A7-C2D5-300A36668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203598"/>
            <a:ext cx="2553056" cy="49536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C7F8328-AC3B-F81B-110B-228356093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856" y="1210979"/>
            <a:ext cx="5315692" cy="3296110"/>
          </a:xfrm>
          <a:prstGeom prst="rect">
            <a:avLst/>
          </a:prstGeom>
        </p:spPr>
      </p:pic>
      <p:cxnSp>
        <p:nvCxnSpPr>
          <p:cNvPr id="13" name="Verbinder: gewinkelt 12">
            <a:extLst>
              <a:ext uri="{FF2B5EF4-FFF2-40B4-BE49-F238E27FC236}">
                <a16:creationId xmlns:a16="http://schemas.microsoft.com/office/drawing/2014/main" id="{27BA352B-40C1-B5E6-82F9-D787348DECE0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2804576" y="1451283"/>
            <a:ext cx="471280" cy="14077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564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DEB09-A366-01BC-1E58-D5F737475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FC825B57-0F34-4200-33E9-F846DC4B7D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solidFill>
            <a:srgbClr val="2C2C54"/>
          </a:solidFill>
        </p:spPr>
        <p:txBody>
          <a:bodyPr lIns="180000"/>
          <a:lstStyle/>
          <a:p>
            <a:r>
              <a:rPr lang="de-DE" dirty="0">
                <a:latin typeface="+mj-lt"/>
              </a:rPr>
              <a:t>Pen-</a:t>
            </a:r>
            <a:r>
              <a:rPr lang="de-DE" dirty="0" err="1">
                <a:latin typeface="+mj-lt"/>
              </a:rPr>
              <a:t>Testing</a:t>
            </a:r>
            <a:endParaRPr lang="de-DE" dirty="0">
              <a:latin typeface="+mj-l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3D30ED-3348-6645-C9A5-4D14FBDD17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rgbClr val="2C2C54"/>
          </a:solidFill>
        </p:spPr>
        <p:txBody>
          <a:bodyPr lIns="180000"/>
          <a:lstStyle/>
          <a:p>
            <a:r>
              <a:rPr lang="de-DE" dirty="0">
                <a:latin typeface="+mj-lt"/>
              </a:rPr>
              <a:t>Strix.ai - Installation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E00E80D-3C6A-E163-11C2-95BCA7153EC0}"/>
              </a:ext>
            </a:extLst>
          </p:cNvPr>
          <p:cNvSpPr txBox="1"/>
          <p:nvPr/>
        </p:nvSpPr>
        <p:spPr>
          <a:xfrm>
            <a:off x="3419872" y="1292853"/>
            <a:ext cx="56166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WSL</a:t>
            </a:r>
          </a:p>
          <a:p>
            <a:r>
              <a:rPr lang="es-ES" dirty="0" err="1"/>
              <a:t>docker</a:t>
            </a:r>
            <a:r>
              <a:rPr lang="es-ES" dirty="0"/>
              <a:t> </a:t>
            </a:r>
            <a:r>
              <a:rPr lang="es-ES" dirty="0" err="1"/>
              <a:t>ps</a:t>
            </a:r>
            <a:endParaRPr lang="es-ES" dirty="0"/>
          </a:p>
          <a:p>
            <a:r>
              <a:rPr lang="es-ES" dirty="0"/>
              <a:t>sudo </a:t>
            </a:r>
            <a:r>
              <a:rPr lang="es-ES" dirty="0" err="1"/>
              <a:t>apt</a:t>
            </a:r>
            <a:r>
              <a:rPr lang="es-ES" dirty="0"/>
              <a:t> </a:t>
            </a:r>
            <a:r>
              <a:rPr lang="es-ES" dirty="0" err="1"/>
              <a:t>update</a:t>
            </a:r>
            <a:r>
              <a:rPr lang="es-ES" dirty="0"/>
              <a:t> &amp;&amp; sudo </a:t>
            </a:r>
            <a:r>
              <a:rPr lang="es-ES" dirty="0" err="1"/>
              <a:t>apt</a:t>
            </a:r>
            <a:r>
              <a:rPr lang="es-ES" dirty="0"/>
              <a:t> </a:t>
            </a:r>
            <a:r>
              <a:rPr lang="es-ES" dirty="0" err="1"/>
              <a:t>install</a:t>
            </a:r>
            <a:r>
              <a:rPr lang="es-ES" dirty="0"/>
              <a:t> -y </a:t>
            </a:r>
            <a:r>
              <a:rPr lang="es-ES" dirty="0" err="1"/>
              <a:t>pipx</a:t>
            </a:r>
            <a:endParaRPr lang="fr-FR" dirty="0"/>
          </a:p>
          <a:p>
            <a:r>
              <a:rPr lang="fr-FR" dirty="0" err="1"/>
              <a:t>pipx</a:t>
            </a:r>
            <a:r>
              <a:rPr lang="fr-FR" dirty="0"/>
              <a:t> </a:t>
            </a:r>
            <a:r>
              <a:rPr lang="fr-FR" dirty="0" err="1"/>
              <a:t>ensurepath</a:t>
            </a:r>
            <a:endParaRPr lang="fr-FR" dirty="0"/>
          </a:p>
          <a:p>
            <a:r>
              <a:rPr lang="fr-FR" dirty="0" err="1"/>
              <a:t>pipx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strix-agent</a:t>
            </a:r>
          </a:p>
          <a:p>
            <a:r>
              <a:rPr lang="fr-FR" dirty="0"/>
              <a:t>export STRIX_LLM="</a:t>
            </a:r>
            <a:r>
              <a:rPr lang="fr-FR" dirty="0" err="1"/>
              <a:t>anthropic</a:t>
            </a:r>
            <a:r>
              <a:rPr lang="fr-FR" dirty="0"/>
              <a:t>/claude-sonnet-4-6"</a:t>
            </a:r>
            <a:r>
              <a:rPr lang="de-DE" dirty="0"/>
              <a:t> </a:t>
            </a:r>
          </a:p>
          <a:p>
            <a:r>
              <a:rPr lang="de-DE" dirty="0" err="1"/>
              <a:t>export</a:t>
            </a:r>
            <a:r>
              <a:rPr lang="de-DE" dirty="0"/>
              <a:t> LLM_API_KEY=„…"</a:t>
            </a:r>
          </a:p>
          <a:p>
            <a:r>
              <a:rPr lang="de-DE" dirty="0" err="1"/>
              <a:t>strix</a:t>
            </a:r>
            <a:r>
              <a:rPr lang="de-DE" dirty="0"/>
              <a:t> --target /</a:t>
            </a:r>
            <a:r>
              <a:rPr lang="de-DE" dirty="0" err="1"/>
              <a:t>mnt</a:t>
            </a:r>
            <a:r>
              <a:rPr lang="de-DE" dirty="0"/>
              <a:t>/c/Projects/</a:t>
            </a:r>
            <a:r>
              <a:rPr lang="de-DE" dirty="0" err="1"/>
              <a:t>WebApps</a:t>
            </a:r>
            <a:r>
              <a:rPr lang="de-DE" dirty="0"/>
              <a:t>/bildungsplattform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9221065-27AD-02B6-FAE4-14A39B78CFC8}"/>
              </a:ext>
            </a:extLst>
          </p:cNvPr>
          <p:cNvSpPr txBox="1"/>
          <p:nvPr/>
        </p:nvSpPr>
        <p:spPr>
          <a:xfrm>
            <a:off x="251520" y="1292853"/>
            <a:ext cx="22322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Powershell</a:t>
            </a:r>
          </a:p>
          <a:p>
            <a:r>
              <a:rPr lang="es-ES" dirty="0" err="1"/>
              <a:t>wsl</a:t>
            </a:r>
            <a:r>
              <a:rPr lang="es-ES" dirty="0"/>
              <a:t> --</a:t>
            </a:r>
            <a:r>
              <a:rPr lang="es-ES" dirty="0" err="1"/>
              <a:t>list</a:t>
            </a:r>
            <a:r>
              <a:rPr lang="es-ES" dirty="0"/>
              <a:t> --verbose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A39636A-A113-B680-75B5-21AE13265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974327"/>
            <a:ext cx="3031317" cy="63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33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987E-BC57-3505-872F-4F68422F1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E0885DD-FAE5-4BBC-704D-989F0DBCAE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solidFill>
            <a:srgbClr val="2C2C54"/>
          </a:solidFill>
        </p:spPr>
        <p:txBody>
          <a:bodyPr lIns="180000"/>
          <a:lstStyle/>
          <a:p>
            <a:r>
              <a:rPr lang="de-DE" dirty="0">
                <a:latin typeface="+mj-lt"/>
              </a:rPr>
              <a:t>Pen-</a:t>
            </a:r>
            <a:r>
              <a:rPr lang="de-DE" dirty="0" err="1">
                <a:latin typeface="+mj-lt"/>
              </a:rPr>
              <a:t>Testing</a:t>
            </a:r>
            <a:endParaRPr lang="de-DE" dirty="0">
              <a:latin typeface="+mj-l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64EEB9-589B-12F5-99C9-C73D639BB4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rgbClr val="2C2C54"/>
          </a:solidFill>
        </p:spPr>
        <p:txBody>
          <a:bodyPr lIns="180000"/>
          <a:lstStyle/>
          <a:p>
            <a:r>
              <a:rPr lang="de-DE" dirty="0">
                <a:latin typeface="+mj-lt"/>
              </a:rPr>
              <a:t>Strix.ai - </a:t>
            </a:r>
            <a:r>
              <a:rPr lang="de-DE" dirty="0" err="1">
                <a:latin typeface="+mj-lt"/>
              </a:rPr>
              <a:t>Results</a:t>
            </a:r>
            <a:endParaRPr lang="de-DE" dirty="0">
              <a:latin typeface="+mj-lt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4DCA766-0D0A-46CB-9D97-1CC2C96A8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63" y="1261879"/>
            <a:ext cx="7697274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90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B27EE-FBD2-3F95-7DFE-991C47717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1F2963C-F650-54C9-49D7-D7F4C4B4FA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solidFill>
            <a:srgbClr val="2C2C54"/>
          </a:solidFill>
        </p:spPr>
        <p:txBody>
          <a:bodyPr lIns="180000"/>
          <a:lstStyle/>
          <a:p>
            <a:r>
              <a:rPr lang="de-DE" dirty="0">
                <a:latin typeface="+mj-lt"/>
              </a:rPr>
              <a:t>Pen-</a:t>
            </a:r>
            <a:r>
              <a:rPr lang="de-DE" dirty="0" err="1">
                <a:latin typeface="+mj-lt"/>
              </a:rPr>
              <a:t>Testing</a:t>
            </a:r>
            <a:endParaRPr lang="de-DE" dirty="0">
              <a:latin typeface="+mj-l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AE55D6-BDFA-8731-F6EB-84E984E8C7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rgbClr val="2C2C54"/>
          </a:solidFill>
        </p:spPr>
        <p:txBody>
          <a:bodyPr lIns="180000"/>
          <a:lstStyle/>
          <a:p>
            <a:r>
              <a:rPr lang="de-DE" dirty="0">
                <a:latin typeface="+mj-lt"/>
              </a:rPr>
              <a:t>Strix.ai - </a:t>
            </a:r>
            <a:r>
              <a:rPr lang="de-DE" dirty="0" err="1">
                <a:latin typeface="+mj-lt"/>
              </a:rPr>
              <a:t>Results</a:t>
            </a:r>
            <a:endParaRPr lang="de-DE" dirty="0">
              <a:latin typeface="+mj-lt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D861241-FDBB-429C-BF96-BA9A9F785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059582"/>
            <a:ext cx="3305636" cy="197195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1E6FEEA-B23B-6482-8377-C03B6354F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795886"/>
            <a:ext cx="3553321" cy="838317"/>
          </a:xfrm>
          <a:prstGeom prst="rect">
            <a:avLst/>
          </a:prstGeom>
        </p:spPr>
      </p:pic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80FA2FE-04BB-2A51-84EE-E33BD0377173}"/>
              </a:ext>
            </a:extLst>
          </p:cNvPr>
          <p:cNvCxnSpPr>
            <a:endCxn id="8" idx="3"/>
          </p:cNvCxnSpPr>
          <p:nvPr/>
        </p:nvCxnSpPr>
        <p:spPr>
          <a:xfrm flipH="1">
            <a:off x="3732833" y="4215044"/>
            <a:ext cx="4791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791D67C3-7425-2B6B-D365-F813EE842178}"/>
              </a:ext>
            </a:extLst>
          </p:cNvPr>
          <p:cNvSpPr txBox="1"/>
          <p:nvPr/>
        </p:nvSpPr>
        <p:spPr>
          <a:xfrm>
            <a:off x="4427984" y="4155926"/>
            <a:ext cx="1666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1 Pen-Test ~30$</a:t>
            </a:r>
          </a:p>
        </p:txBody>
      </p:sp>
    </p:spTree>
    <p:extLst>
      <p:ext uri="{BB962C8B-B14F-4D97-AF65-F5344CB8AC3E}">
        <p14:creationId xmlns:p14="http://schemas.microsoft.com/office/powerpoint/2010/main" val="1575142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C3885-9E0F-BBCA-47A3-9B7B3C39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E42B3C6-148B-FD17-8F26-30F94286A5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solidFill>
            <a:srgbClr val="2C2C54"/>
          </a:solidFill>
        </p:spPr>
        <p:txBody>
          <a:bodyPr lIns="180000"/>
          <a:lstStyle/>
          <a:p>
            <a:r>
              <a:rPr lang="de-DE" dirty="0">
                <a:latin typeface="+mj-lt"/>
              </a:rPr>
              <a:t>Pen-</a:t>
            </a:r>
            <a:r>
              <a:rPr lang="de-DE" dirty="0" err="1">
                <a:latin typeface="+mj-lt"/>
              </a:rPr>
              <a:t>Testing</a:t>
            </a:r>
            <a:endParaRPr lang="de-DE" dirty="0">
              <a:latin typeface="+mj-l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6BD194-57D1-B236-0970-14EB584633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rgbClr val="2C2C54"/>
          </a:solidFill>
        </p:spPr>
        <p:txBody>
          <a:bodyPr lIns="180000"/>
          <a:lstStyle/>
          <a:p>
            <a:r>
              <a:rPr lang="de-DE" dirty="0">
                <a:latin typeface="+mj-lt"/>
              </a:rPr>
              <a:t>Strix.ai - Installation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6AA83AD-5C09-1E13-90CA-73D6A6D28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1187603"/>
            <a:ext cx="4505954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809939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850E1F-3018-4A66-951A-F2ED70BFA8D8}">
  <we:reference id="f5f369e5-aa35-49d7-ad7b-638152ddb008" version="1.0.0.1" store="EXCatalog" storeType="EXCatalog"/>
  <we:alternateReferences>
    <we:reference id="WA200010001" version="1.0.0.1" store="de-DE" storeType="OMEX"/>
  </we:alternateReferences>
  <we:properties>
    <we:property name="claude.fileId" value="&quot;aa37b500-433c-4963-8336-5b686295f2c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Microsoft Office PowerPoint</Application>
  <PresentationFormat>Bildschirmpräsentation (16:9)</PresentationFormat>
  <Paragraphs>85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맑은 고딕</vt:lpstr>
      <vt:lpstr>Arial</vt:lpstr>
      <vt:lpstr>Calibri</vt:lpstr>
      <vt:lpstr>Calibri Light</vt:lpstr>
      <vt:lpstr>Wingdings</vt:lpstr>
      <vt:lpstr>Benutzerdefiniertes 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Bert Gollnick</cp:lastModifiedBy>
  <cp:revision>127</cp:revision>
  <dcterms:created xsi:type="dcterms:W3CDTF">2016-12-05T23:26:54Z</dcterms:created>
  <dcterms:modified xsi:type="dcterms:W3CDTF">2026-06-27T09:19:33Z</dcterms:modified>
</cp:coreProperties>
</file>